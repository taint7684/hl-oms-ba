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HL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Sydney CBD · NSW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82880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B4451F"/>
                </a:solidFill>
                <a:latin typeface="Segoe UI"/>
              </a:rPr>
              <a:t>ĐỀ XUẤT GIẢI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240280"/>
            <a:ext cx="694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>
                <a:solidFill>
                  <a:srgbClr val="1F2937"/>
                </a:solidFill>
                <a:latin typeface="Segoe UI"/>
              </a:rPr>
              <a:t>HL-OMS</a:t>
            </a:r>
          </a:p>
          <a:p>
            <a:pPr algn="l">
              <a:spcAft>
                <a:spcPts val="1530"/>
              </a:spcAft>
            </a:pPr>
            <a:r>
              <a:rPr sz="3400" b="1">
                <a:solidFill>
                  <a:srgbClr val="1F2937"/>
                </a:solidFill>
                <a:latin typeface="Segoe UI"/>
              </a:rPr>
              <a:t>Gọi món số, bếp nhanh, bill đúng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023360"/>
            <a:ext cx="6766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Hệ thống quản lý gọi món cho phục vụ, bếp, thu ngân và quản lý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394960"/>
            <a:ext cx="676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Trình bày: Business Analyst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Go-live 01/03/2027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Phiếu giấy đang làm mất tiền và mất khách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3–5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lần sai/sót món mỗi ngày · ~AUD 900/tháng làm lại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22'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từ gọi món tới món đầu tiên giờ cao điểm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bill sai mỗi tuần · 0% hóa đơn ghi GST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sự cố dị ứng suýt xảy ra trong năm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415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42% đánh giá xấu trên Google nói về chờ lâu, 26% về sai/thiếu món (214 đánh giá, 12 tháng)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Phục vụ mất ≈ 95 phút mỗi ca tối chỉ để chạy phiếu vào bếp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Hết món báo miệng: khách biết sau 10–15 phút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Nguồn: quan sát ca tối 06/11, 912 phiếu giấy, 50 hóa đơn, khảo sát 15 nhân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Quy trình hiện tại: 6 điểm đau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 / 12</a:t>
            </a:r>
          </a:p>
        </p:txBody>
      </p:sp>
      <p:pic>
        <p:nvPicPr>
          <p:cNvPr id="8" name="Picture 7" descr="BP1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849889" cy="31089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846320"/>
          <a:ext cx="11094414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1 Chữ khó đọc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2 Dị ứng ở lề phiếu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3 Chạy phiếu 2–3'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4 Mất liên 2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5 Chờ trên móc 3'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6 Hết món báo miệng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HL-OMS: 4 ứng dụng trên một nền tảng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App Phục vụ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Sơ đồ bàn theo trạng thái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Gọi món ≤ 3 chạm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Khai báo dị ứng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Rung khi món xong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Màn hình Bếp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Phiếu theo trạm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Bắt buộc xác nhận dị ứng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Cảnh báo món trễ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Báo hết món tức thì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Quầy Thu ngân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GST, phụ thu lễ tự tính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Tách bill 2–10 phần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Tiền mặt làm tròn 5c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Tax invoice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Trang Quản lý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Menu 72 món song ngữ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Duyệt hủy, giảm giá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Báo cáo, CSV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Nhật ký thao tác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63721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Web app trên điện thoại và màn cảm ứng · cloud tại Úc · chạy tiếp khi mất internet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Đơn tới bếp trong 2 giây, không ai phải chạy phiếu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5 / 12</a:t>
            </a:r>
          </a:p>
        </p:txBody>
      </p:sp>
      <p:pic>
        <p:nvPicPr>
          <p:cNvPr id="8" name="Picture 7" descr="BP1_T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248194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0" y="1600200"/>
          <a:ext cx="37792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406"/>
                <a:gridCol w="1062904"/>
                <a:gridCol w="106290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Chỉ số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As-Is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To-Be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Đơn tới bếp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5–10'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≤ 2 giây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Đi bộ đưa phiếu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95'/ca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Biết món hết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10–15'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Ngay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Cộng bill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2–4'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≤ 30 giây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Hóa đơn có GST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Phục vụ gọi món — bếp nhận ngay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 / 12</a:t>
            </a:r>
          </a:p>
        </p:txBody>
      </p:sp>
      <p:pic>
        <p:nvPicPr>
          <p:cNvPr id="8" name="Picture 7" descr="SCR-03_goi-m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047130" cy="4206240"/>
          </a:xfrm>
          <a:prstGeom prst="rect">
            <a:avLst/>
          </a:prstGeom>
        </p:spPr>
      </p:pic>
      <p:pic>
        <p:nvPicPr>
          <p:cNvPr id="9" name="Picture 8" descr="SCR-04_chi-tiet-m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650" y="1600200"/>
            <a:ext cx="2047130" cy="4206240"/>
          </a:xfrm>
          <a:prstGeom prst="rect">
            <a:avLst/>
          </a:prstGeom>
        </p:spPr>
      </p:pic>
      <p:pic>
        <p:nvPicPr>
          <p:cNvPr id="10" name="Picture 9" descr="SCR-07_k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100" y="1600200"/>
            <a:ext cx="6542955" cy="37993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Prototype click được: 07_UIUX/prototype/index.html · 19 màn hình · đồng bộ thời gian thực giữa các thiết bị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Bill đúng luật, quản lý thấy số liệu ngay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 / 12</a:t>
            </a:r>
          </a:p>
        </p:txBody>
      </p:sp>
      <p:pic>
        <p:nvPicPr>
          <p:cNvPr id="8" name="Picture 7" descr="SCR-11_bill-thanh-t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410048" cy="3490550"/>
          </a:xfrm>
          <a:prstGeom prst="rect">
            <a:avLst/>
          </a:prstGeom>
        </p:spPr>
      </p:pic>
      <p:pic>
        <p:nvPicPr>
          <p:cNvPr id="9" name="Picture 8" descr="SCR-15_bao-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1600200"/>
            <a:ext cx="5410048" cy="3386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GIÁ TRỊ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Mục tiêu đo được sau 6 tháng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944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666"/>
                <a:gridCol w="2133541"/>
                <a:gridCol w="2133541"/>
                <a:gridCol w="341366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Business Need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Hiện tại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Mục tiêu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Đo bằng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BN-01 Sai/sót món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3–5 lần/ngày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≤ 1 lần/ngày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Nhật ký hủy, sổ bếp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BN-02 Thời gian lên món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22 phút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≤ 15 phút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Báo cáo thời gian chế biến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BN-03 Bill sai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1–2/tuần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Chốt ca, khiếu nại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BN-05 Sự cố dị ứng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2/năm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Nhật ký xác nhận dị ứng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BN-07 Quay vòng bàn ca tối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+10%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Số bill ca tối T6–T7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MVP 35 User Story trong 5 sprint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03–27/11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53151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3151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S1–S2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8871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Menu, bàn, gọi món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7661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7661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381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Bếp, thông báo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2172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2172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7892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Thanh toán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6683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6683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2403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Báo cáo, offline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71194" y="1600200"/>
            <a:ext cx="1467351" cy="10972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1194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UAT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6914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15–26/02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75704" y="1600200"/>
            <a:ext cx="1467351" cy="109728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5704" y="1764792"/>
            <a:ext cx="1467351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1424" y="2167128"/>
            <a:ext cx="1375911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95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01/03/2027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17520"/>
            <a:ext cx="5364328" cy="24688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5468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MVP (go-live)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566160"/>
            <a:ext cx="4998568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Gọi món tại bàn và mang về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KDS 3 trạm, dị ứng, món trễ, hết món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Bill, GST, phụ thu, tách bill, chốt ca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Báo cáo, phân quyền, nhật ký, offline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8728" y="3017520"/>
            <a:ext cx="5364328" cy="24688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1608" y="315468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6B7280"/>
                </a:solidFill>
                <a:latin typeface="Segoe UI"/>
              </a:rPr>
              <a:t>V2 (dự kiến Q3/2027)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8" y="3566160"/>
            <a:ext cx="4998568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Khách gọi món qua QR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Đặt bàn online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Hold &amp; fire theo lượt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Tích hợp EFTPOS, đồng bộ Xero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CHẤT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Yêu cầu truy vết đầy đủ, UAT đạt 100%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User Story MVP · 73 Acceptance Criteria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Use Case · 7 UCS đầy đủ · 7 BPMN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UAT test case · 100% đạt vòng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lỗ hổng truy vết (RTM tự động)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29184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5532"/>
                <a:gridCol w="2218883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Truy vết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Phủ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Business Need → User Story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7/7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User Story → Use Case → Function → Test Case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35/35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Acceptance Criteria → Test Case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73/73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Luồng UCS (Basic/Alternative/Exception) → Test Case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65/65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ĐẦU TƯ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Hoàn vốn khoảng 18 tháng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AUD 49.200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tổng chi phí năm 1 (phần mềm, phần cứng, thuê bao)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AUD 40.700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lợi ích mỗi năm khi đạt mục tiêu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~18 tháng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hoàn vốn (thận trọng ~25 · lạc quan ~14)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29354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B4451F"/>
                </a:solidFill>
                <a:latin typeface="Segoe UI"/>
              </a:rPr>
              <a:t>AUD 45.900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377440"/>
            <a:ext cx="2293544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NPV 3 năm, chiết khấu 8%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29184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5532"/>
                <a:gridCol w="2218883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Nguồn lợi ích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AUD/năm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Tăng lượt bàn ca tối T6–T7 (+10%)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23.660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Giảm làm lại món (−80%)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8.640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Rút ngắn chốt ca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5.308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Giảm thất thoát bill, phụ thu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3.126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ĐỀ NGHỊ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Phê duyệt go-live 01/03/2027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Pitching ·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364328" cy="3291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Đề nghị BOM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998568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Phê duyệt go-live 01/03/2027 (UAT đã ký 26/02)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Chạy song song phiếu giấy 1 tuần làm dự phòng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Xác nhận ngày lễ 26/04/2027 (Q-041) trước 01/04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8" y="1600200"/>
            <a:ext cx="5364328" cy="3291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8" y="173736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Sau 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8" y="2148840"/>
            <a:ext cx="4998568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Hypercare 4 tuần, có mặt ca tối T6–T7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Benefit review 01/06 và 01/09/2027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Quyết định phạm vi V2 theo số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1">
                <a:solidFill>
                  <a:srgbClr val="B4451F"/>
                </a:solidFill>
                <a:latin typeface="Segoe UI"/>
              </a:rPr>
              <a:t>Cảm ơn anh/chị — Hỏi &amp;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