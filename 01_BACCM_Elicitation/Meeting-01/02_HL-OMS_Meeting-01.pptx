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9184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HL RESTAURANT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760720"/>
            <a:ext cx="3291840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Sydney CBD · NSW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828800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B4451F"/>
                </a:solidFill>
                <a:latin typeface="Segoe UI"/>
              </a:rPr>
              <a:t>HỌP KHỞI ĐỘNG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0" y="2240280"/>
            <a:ext cx="6949440" cy="1463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620"/>
              </a:spcAft>
            </a:pPr>
            <a:r>
              <a:rPr sz="3600" b="1">
                <a:solidFill>
                  <a:srgbClr val="1F2937"/>
                </a:solidFill>
                <a:latin typeface="Segoe UI"/>
              </a:rPr>
              <a:t>Hệ thống quản lý gọi món</a:t>
            </a:r>
          </a:p>
          <a:p>
            <a:pPr algn="l">
              <a:spcAft>
                <a:spcPts val="1620"/>
              </a:spcAft>
            </a:pPr>
            <a:r>
              <a:rPr sz="3600" b="1">
                <a:solidFill>
                  <a:srgbClr val="1F2937"/>
                </a:solidFill>
                <a:latin typeface="Segoe UI"/>
              </a:rPr>
              <a:t>HL-OMS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6320" y="3977639"/>
            <a:ext cx="67665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6B7280"/>
                </a:solidFill>
                <a:latin typeface="Segoe UI"/>
              </a:rPr>
              <a:t>Hiểu bài toán · Đề xuất giải pháp · Thống nhất bước tiếp theo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5394960"/>
            <a:ext cx="676656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Thứ Ba 03/11/2026 · 14:30–16:30</a:t>
            </a:r>
          </a:p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Trình bày: Business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GIỚI THIỆU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Đội dự án và chương trình hôm nay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2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536432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3203"/>
                <a:gridCol w="3301124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Vai trò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Phụ trách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Project Manager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Kế hoạch, tiến độ, hợp đồng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Business Analyst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Yêu cầu, quy trình, tài liệu, UAT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Dev Team (2 FE, 1 BE)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Xây dựng web app, KDS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QA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Kiểm thử hệ thống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78728" y="1600200"/>
          <a:ext cx="5364327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05"/>
                <a:gridCol w="4023246"/>
                <a:gridCol w="838176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Nội dung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Phút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Mục tiêu buổi họp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Hiểu biết ban đầu và giải pháp đề xuất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Hỏi đáp theo 6 nhóm câu hỏi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70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1F2937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Thống nhất bước tiếp theo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663440"/>
            <a:ext cx="11094415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6B7280"/>
                </a:solidFill>
                <a:latin typeface="Segoe UI"/>
              </a:rPr>
              <a:t>Mục tiêu: xác nhận nhu cầu, phạm vi MVP, ràng buộc vận hành và thương mại — đủ để bắt đầu giai đoạn Discovery.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BỐI CẢNH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Chúng tôi hiểu về HL Restaurant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3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56786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B4451F"/>
                </a:solidFill>
                <a:latin typeface="Segoe UI"/>
              </a:rPr>
              <a:t>15–20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22935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bàn, 1 khu trong nhà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4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4" y="1737360"/>
            <a:ext cx="256786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B4451F"/>
                </a:solidFill>
                <a:latin typeface="Segoe UI"/>
              </a:rPr>
              <a:t>6–10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4" y="2423160"/>
            <a:ext cx="22935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nhân viên mỗi 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8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8" y="1737360"/>
            <a:ext cx="256786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B4451F"/>
                </a:solidFill>
                <a:latin typeface="Segoe UI"/>
              </a:rPr>
              <a:t>Giấy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8" y="2423160"/>
            <a:ext cx="22935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phiếu gọi món chuyển tay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91" y="1600200"/>
            <a:ext cx="2567864" cy="13716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8071" y="1737360"/>
            <a:ext cx="2567864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350"/>
              </a:spcAft>
            </a:pPr>
            <a:r>
              <a:rPr sz="3000" b="1">
                <a:solidFill>
                  <a:srgbClr val="B4451F"/>
                </a:solidFill>
                <a:latin typeface="Segoe UI"/>
              </a:rPr>
              <a:t>AUD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071" y="2423160"/>
            <a:ext cx="2293544" cy="4572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0">
                <a:solidFill>
                  <a:srgbClr val="6B7280"/>
                </a:solidFill>
                <a:latin typeface="Segoe UI"/>
              </a:rPr>
              <a:t>giá đã gồm GST 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11094415" cy="20116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Nhà hàng Việt tại Sydney CBD, cao điểm tối thứ Sáu – thứ Bảy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Phục vụ mang phiếu vào bếp; bếp gọi to khi món xong; thu ngân cộng bill bằng tay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Nhân sự luân ca, nhiều nhân viên bán thời gian</a:t>
            </a:r>
          </a:p>
          <a:p>
            <a:pPr algn="l">
              <a:spcAft>
                <a:spcPts val="675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• Đặc thù Úc: GST 10%, phụ thu ngày lễ, thông tin dị ứng bắt buộc khi khách hỏi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solidFill>
            <a:srgbClr val="FB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349240"/>
            <a:ext cx="11094415" cy="4572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40"/>
              </a:spcAft>
            </a:pPr>
            <a:r>
              <a:rPr sz="1200" b="1">
                <a:solidFill>
                  <a:srgbClr val="B4451F"/>
                </a:solidFill>
                <a:latin typeface="Segoe UI"/>
              </a:rPr>
              <a:t>Số liệu trên là giả định — cần anh/chị xác nhận hôm nay (Assumption Log A-01 → A-25)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VẤN ĐỀ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Từ phiếu giấy đến đơn số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4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94414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7207"/>
                <a:gridCol w="5547207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Hiện tại (As-Is)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Đề xuất (To-Be)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Ghi sai món, chữ khó đọc, ghi tắt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Chọn món từ menu chuẩn trên điện thoại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Phục vụ chạy vào bếp đưa phiếu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Đơn tới đúng trạm bếp theo thời gian thực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Không biết món nào đang nấu, món nào trễ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Trạng thái từng món, cảnh báo món trễ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Hết món nhưng vẫn nhận order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Bếp báo hết món, hệ thống chặn ngay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Ghi chú dị ứng dễ sót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Chọn chất gây dị ứng, cảnh báo đỏ trên màn bếp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Cộng bill thủ công, quên phụ thu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Tự tính tổng, GST, phụ thu; tách bill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BACCM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Bài toán trên một trang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5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3515258" cy="196596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31494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Need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149498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Vận hành nhanh, chính xác, an toàn dị ứng; ít sai món, bill đúng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600200"/>
            <a:ext cx="3515258" cy="196596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1098" y="1737360"/>
            <a:ext cx="31494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2148840"/>
            <a:ext cx="3149498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Gọi món giấy → đơn số; chạy phiếu → đơn tự tới bếp; cộng tay → bill tự tính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7" y="1600200"/>
            <a:ext cx="3515258" cy="196596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0677" y="1737360"/>
            <a:ext cx="31494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Solution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0677" y="2148840"/>
            <a:ext cx="3149498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HL-OMS: app phục vụ · màn hình bếp (KDS) · quầy thu ngân · trang quản lý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40480"/>
            <a:ext cx="3515258" cy="196596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977640"/>
            <a:ext cx="31494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Stakeholder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389120"/>
            <a:ext cx="3149498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Chủ NH · Quản lý · Bếp trưởng · Bếp · Phục vụ · Thu ngân · Khách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38218" y="3840480"/>
            <a:ext cx="3515258" cy="196596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1098" y="3977640"/>
            <a:ext cx="31494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1098" y="4389120"/>
            <a:ext cx="3149498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Giảm sai món, rút ngắn thời gian lên món, tăng quay vòng bàn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27797" y="3840480"/>
            <a:ext cx="3515258" cy="196596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10677" y="3977640"/>
            <a:ext cx="314949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Context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0677" y="4389120"/>
            <a:ext cx="3149498" cy="13258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Sydney CBD, cao điểm đông, nhân sự luân ca, quy định GST/ACCC/FSANZ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NHU CẦU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Mỗi nhóm người dùng cần gì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6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11094413" cy="37124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1336"/>
                <a:gridCol w="7396276"/>
                <a:gridCol w="1386801"/>
              </a:tblGrid>
              <a:tr h="530352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Người dùng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Nhu cầu chính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Ưu tiên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Phục vụ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Ghi món nhanh, thao tác một tay; biết món nào đã xong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Must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Bếp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Đọc đơn rõ theo trạm; thấy dị ứng nổi bật; biết món trễ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Must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Bếp trưởng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Xem tổng đơn chờ, điều phối; báo hết món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Must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Thu ngân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Bill đúng GST, phụ thu; tách bill nhanh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Must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Quản lý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Cập nhật menu, giá; báo cáo; kiểm soát hủy và giảm giá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Must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2937"/>
                          </a:solidFill>
                          <a:latin typeface="Segoe UI"/>
                        </a:rPr>
                        <a:t>Chủ nhà hàng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Doanh thu rõ, giảm thất thoát, ROI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2937"/>
                          </a:solidFill>
                          <a:latin typeface="Segoe UI"/>
                        </a:rPr>
                        <a:t>Must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GIẢI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HL-OMS gồm 4 phân hệ trên một nền tảng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7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App Phục vụ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Sơ đồ bàn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Gọi món, tùy chọn, dị ứng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Gửi bếp một chạm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Nhận báo món xong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0824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73704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Màn hình Bếp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3704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Đơn theo trạm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Trạng thái từng món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Cảnh báo món trễ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Báo hết món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33008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5888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Quầy Thu ngân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5888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Bill tự tính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GST, phụ thu lễ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Tách bill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Ghi nhận thanh toán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75191" y="1600200"/>
            <a:ext cx="2567864" cy="292608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58071" y="1737360"/>
            <a:ext cx="2202104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Trang Quản lý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58071" y="2148840"/>
            <a:ext cx="2202104" cy="228600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Menu, giá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Báo cáo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Tài khoản, phân quyền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Nhật ký thao tác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600"/>
            <a:ext cx="11094415" cy="685800"/>
          </a:xfrm>
          <a:prstGeom prst="rect">
            <a:avLst/>
          </a:prstGeom>
          <a:solidFill>
            <a:srgbClr val="1F29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10637215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Web app chạy trên điện thoại và màn hình cảm ứng — không cài đặt · cập nhật theo thời gian thực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PHẠM VI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Phạm vi MVP đề xuất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8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5364328" cy="3749039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737360"/>
            <a:ext cx="49985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Trong phạm vi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4998568" cy="3108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Menu và tình trạng còn/hết món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Quản lý bàn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Tạo, sửa đơn; gửi bếp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Bếp cập nhật trạng thái món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Thông báo món sẵn sàng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Bill, GST, phụ thu, tách bill, ghi nhận thanh toán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Phân quyền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Báo cáo cơ bản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8728" y="1600200"/>
            <a:ext cx="5364328" cy="3749039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1608" y="1737360"/>
            <a:ext cx="4998568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6B7280"/>
                </a:solidFill>
                <a:latin typeface="Segoe UI"/>
              </a:rPr>
              <a:t>Phiên bản sau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1608" y="2148840"/>
            <a:ext cx="4998568" cy="3108959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Khách tự gọi món qua QR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Đặt bàn online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Giao hàng (Uber Eats…)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Quản lý kho nguyên liệu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Khách hàng thân thiết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Tích hợp cổng thanh toán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PHƯƠNG PHÁP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Scrum với 4 tuần Discovery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9 / 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2072579" cy="100584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64792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Discovery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4 tuần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04099" y="1600200"/>
            <a:ext cx="2072579" cy="100584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04099" y="1764792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Sprint 1–5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4099" y="2148840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2 tuần/sprint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59558" y="1600200"/>
            <a:ext cx="2072579" cy="100584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59558" y="1764792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UAT + đào tạo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59558" y="2148840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2 tuần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017" y="1600200"/>
            <a:ext cx="2072579" cy="100584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017" y="1764792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Go-live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017" y="2148840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FFFFFF"/>
                </a:solidFill>
                <a:latin typeface="Segoe UI"/>
              </a:rPr>
              <a:t>Q1/2027*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570476" y="1600200"/>
            <a:ext cx="2072579" cy="100584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0476" y="1764792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675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Hypercare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0476" y="2148840"/>
            <a:ext cx="2072579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ctr">
              <a:spcAft>
                <a:spcPts val="540"/>
              </a:spcAft>
            </a:pPr>
            <a:r>
              <a:rPr sz="1200" b="0">
                <a:solidFill>
                  <a:srgbClr val="1F2937"/>
                </a:solidFill>
                <a:latin typeface="Segoe UI"/>
              </a:rPr>
              <a:t>4 tuần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48640" y="2926080"/>
          <a:ext cx="11094413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4547"/>
                <a:gridCol w="2662659"/>
                <a:gridCol w="5547207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Vai trò Scrum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Đề xuất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Nhịp làm việc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Product Owner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Quản lý nhà hàng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Sprint Review: demo tại nhà hàng mỗi 2 tuần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Người duyệt cuối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Chủ nhà hàng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Duyệt phạm vi, nghiệm thu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Scrum Master · BA · Dev · QA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Đội vendor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Daily 15', refinement giữa sprint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48640" y="5074920"/>
            <a:ext cx="1109441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0">
                <a:solidFill>
                  <a:srgbClr val="6B7280"/>
                </a:solidFill>
                <a:latin typeface="Segoe UI"/>
              </a:rPr>
              <a:t>* Mốc go-live cần thống nhất hôm nay.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73152" cy="685800"/>
          </a:xfrm>
          <a:prstGeom prst="rect">
            <a:avLst/>
          </a:prstGeom>
          <a:solidFill>
            <a:srgbClr val="B44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457200"/>
            <a:ext cx="11094415" cy="3200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95"/>
              </a:spcAft>
            </a:pPr>
            <a:r>
              <a:rPr sz="1100" b="1">
                <a:solidFill>
                  <a:srgbClr val="B4451F"/>
                </a:solidFill>
                <a:latin typeface="Segoe UI"/>
              </a:rPr>
              <a:t>THỐNG NHẤT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749808"/>
            <a:ext cx="11094415" cy="54864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1170"/>
              </a:spcAft>
            </a:pPr>
            <a:r>
              <a:rPr sz="2600" b="1">
                <a:solidFill>
                  <a:srgbClr val="1F2937"/>
                </a:solidFill>
                <a:latin typeface="Segoe UI"/>
              </a:rPr>
              <a:t>Hôm nay cần anh/chị xác nhận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6355080"/>
            <a:ext cx="11094415" cy="0"/>
          </a:xfrm>
          <a:prstGeom prst="line">
            <a:avLst/>
          </a:prstGeom>
          <a:ln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HL-OMS · Họp khởi động · 03/11/2026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14255" y="6400800"/>
            <a:ext cx="1828800" cy="274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spcAft>
                <a:spcPts val="405"/>
              </a:spcAft>
            </a:pPr>
            <a:r>
              <a:rPr sz="900" b="0">
                <a:solidFill>
                  <a:srgbClr val="6B7280"/>
                </a:solidFill>
                <a:latin typeface="Segoe UI"/>
              </a:rPr>
              <a:t>10 / 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600200"/>
          <a:ext cx="67665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74920"/>
                <a:gridCol w="169164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Nhóm câu hỏi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Số câu</a:t>
                      </a:r>
                    </a:p>
                  </a:txBody>
                  <a:tcPr marL="91440" marR="91440" marT="36576" marB="36576" anchor="ctr">
                    <a:solidFill>
                      <a:srgbClr val="1F293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1. Nhu cầu chính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2. Tiện ích / UX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3. Nội dung sản phẩm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4. Vận hành &amp; nguồn lực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5. Điều khoản thương mại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36576" marB="36576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6. Khác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36576" marB="36576" anchor="ctr">
                    <a:solidFill>
                      <a:srgbClr val="F6F4F1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4983480"/>
            <a:ext cx="11094415" cy="548640"/>
          </a:xfrm>
          <a:prstGeom prst="rect">
            <a:avLst/>
          </a:prstGeom>
          <a:solidFill>
            <a:srgbClr val="FBEE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4983480"/>
            <a:ext cx="11094415" cy="5486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spcAft>
                <a:spcPts val="585"/>
              </a:spcAft>
            </a:pPr>
            <a:r>
              <a:rPr sz="1300" b="1">
                <a:solidFill>
                  <a:srgbClr val="B4451F"/>
                </a:solidFill>
                <a:latin typeface="Segoe UI"/>
              </a:rPr>
              <a:t>40 câu · 25 câu bắt buộc hỏi hôm nay · chi tiết người trả lời và kỹ thuật: Question Log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0" y="1600200"/>
            <a:ext cx="3962095" cy="3200400"/>
          </a:xfrm>
          <a:prstGeom prst="rect">
            <a:avLst/>
          </a:prstGeom>
          <a:solidFill>
            <a:srgbClr val="F6F4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1737360"/>
            <a:ext cx="3596335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1">
                <a:solidFill>
                  <a:srgbClr val="B4451F"/>
                </a:solidFill>
                <a:latin typeface="Segoe UI"/>
              </a:rPr>
              <a:t>Bước tiếp theo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2148840"/>
            <a:ext cx="3596335" cy="25603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Quan sát ca tối thứ Sáu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Nhận phiếu, menu, hóa đơn mẫu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Khảo sát nhân viên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Workshop phạm vi MVP</a:t>
            </a:r>
          </a:p>
          <a:p>
            <a:pPr algn="l">
              <a:spcAft>
                <a:spcPts val="63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Demo prototype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